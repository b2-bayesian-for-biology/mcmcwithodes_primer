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164592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BA9"/>
    <a:srgbClr val="57575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0"/>
    <p:restoredTop sz="94694"/>
  </p:normalViewPr>
  <p:slideViewPr>
    <p:cSldViewPr snapToGrid="0">
      <p:cViewPr varScale="1">
        <p:scale>
          <a:sx n="121" d="100"/>
          <a:sy n="121" d="100"/>
        </p:scale>
        <p:origin x="2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122363"/>
            <a:ext cx="12344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602038"/>
            <a:ext cx="123444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64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14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7" y="1709738"/>
            <a:ext cx="1419606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7" y="4589464"/>
            <a:ext cx="1419606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6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1825625"/>
            <a:ext cx="699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1825625"/>
            <a:ext cx="699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7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365126"/>
            <a:ext cx="1419606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5" y="1681163"/>
            <a:ext cx="69630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5" y="2505075"/>
            <a:ext cx="69630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0" y="1681163"/>
            <a:ext cx="699730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0" y="2505075"/>
            <a:ext cx="699730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88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4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3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457200"/>
            <a:ext cx="53085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987426"/>
            <a:ext cx="833247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2057400"/>
            <a:ext cx="53085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457200"/>
            <a:ext cx="53085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987426"/>
            <a:ext cx="833247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2057400"/>
            <a:ext cx="53085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7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8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5" y="365125"/>
            <a:ext cx="35490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0" y="365125"/>
            <a:ext cx="1044130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5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365126"/>
            <a:ext cx="141960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1825625"/>
            <a:ext cx="141960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6356351"/>
            <a:ext cx="5554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2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A320630-A4B8-BEDD-79E2-033E123B7CC8}"/>
              </a:ext>
            </a:extLst>
          </p:cNvPr>
          <p:cNvSpPr/>
          <p:nvPr/>
        </p:nvSpPr>
        <p:spPr>
          <a:xfrm>
            <a:off x="384585" y="1332288"/>
            <a:ext cx="2954703" cy="519231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BDB421-DA01-3ECB-3B77-759EF60D4841}"/>
              </a:ext>
            </a:extLst>
          </p:cNvPr>
          <p:cNvSpPr/>
          <p:nvPr/>
        </p:nvSpPr>
        <p:spPr>
          <a:xfrm>
            <a:off x="6511160" y="168166"/>
            <a:ext cx="3247696" cy="78827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Bayesian Workflow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CA50591-4D36-7FAB-0F2E-760A02287491}"/>
              </a:ext>
            </a:extLst>
          </p:cNvPr>
          <p:cNvSpPr/>
          <p:nvPr/>
        </p:nvSpPr>
        <p:spPr>
          <a:xfrm>
            <a:off x="3556457" y="1332288"/>
            <a:ext cx="2954703" cy="51923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3A054C-6179-E80E-5404-965642491BFE}"/>
              </a:ext>
            </a:extLst>
          </p:cNvPr>
          <p:cNvSpPr/>
          <p:nvPr/>
        </p:nvSpPr>
        <p:spPr>
          <a:xfrm>
            <a:off x="6748701" y="1332288"/>
            <a:ext cx="2954703" cy="519231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6E6011-9D83-51EC-130D-69EDB021048F}"/>
              </a:ext>
            </a:extLst>
          </p:cNvPr>
          <p:cNvSpPr/>
          <p:nvPr/>
        </p:nvSpPr>
        <p:spPr>
          <a:xfrm>
            <a:off x="9940945" y="1332288"/>
            <a:ext cx="2954703" cy="51923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7820464-0AEE-5ECE-A6EB-61C5B353AD2C}"/>
              </a:ext>
            </a:extLst>
          </p:cNvPr>
          <p:cNvSpPr/>
          <p:nvPr/>
        </p:nvSpPr>
        <p:spPr>
          <a:xfrm>
            <a:off x="13133189" y="1332288"/>
            <a:ext cx="2954703" cy="5192316"/>
          </a:xfrm>
          <a:prstGeom prst="roundRect">
            <a:avLst/>
          </a:prstGeom>
          <a:solidFill>
            <a:srgbClr val="EDEB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C783CE-7D92-F95E-EF4A-A7AA2A7B5734}"/>
              </a:ext>
            </a:extLst>
          </p:cNvPr>
          <p:cNvSpPr txBox="1"/>
          <p:nvPr/>
        </p:nvSpPr>
        <p:spPr>
          <a:xfrm>
            <a:off x="1292772" y="1502979"/>
            <a:ext cx="1009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B72F6-41F1-B054-C545-0DC9DF8569BC}"/>
              </a:ext>
            </a:extLst>
          </p:cNvPr>
          <p:cNvSpPr txBox="1"/>
          <p:nvPr/>
        </p:nvSpPr>
        <p:spPr>
          <a:xfrm>
            <a:off x="4380424" y="1502979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ODE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5A9F4-9908-3050-F377-91FA0EBDDF7D}"/>
              </a:ext>
            </a:extLst>
          </p:cNvPr>
          <p:cNvSpPr txBox="1"/>
          <p:nvPr/>
        </p:nvSpPr>
        <p:spPr>
          <a:xfrm>
            <a:off x="7348696" y="1493938"/>
            <a:ext cx="1834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Bayesian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25F175-7056-7966-16CF-1F5148511169}"/>
              </a:ext>
            </a:extLst>
          </p:cNvPr>
          <p:cNvSpPr txBox="1"/>
          <p:nvPr/>
        </p:nvSpPr>
        <p:spPr>
          <a:xfrm>
            <a:off x="10245827" y="1493938"/>
            <a:ext cx="2470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Computing Posteriors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D2A21-5485-8512-4732-7013D145E6E7}"/>
              </a:ext>
            </a:extLst>
          </p:cNvPr>
          <p:cNvSpPr txBox="1"/>
          <p:nvPr/>
        </p:nvSpPr>
        <p:spPr>
          <a:xfrm>
            <a:off x="13697277" y="1493938"/>
            <a:ext cx="1924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validation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53B8AB-BEBD-479A-F9F3-261C4FE127BB}"/>
              </a:ext>
            </a:extLst>
          </p:cNvPr>
          <p:cNvSpPr txBox="1"/>
          <p:nvPr/>
        </p:nvSpPr>
        <p:spPr>
          <a:xfrm>
            <a:off x="447905" y="1938702"/>
            <a:ext cx="27878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Data cleaning and preprocessing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Identifying variables and visualizing data.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Collating all available replicates.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Choosing appropriate scaling and transformation. E.g., log-transform for microbial abundance.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CDD77A-3EF4-8ABD-C7D6-0B8FF4AD75AA}"/>
              </a:ext>
            </a:extLst>
          </p:cNvPr>
          <p:cNvSpPr txBox="1"/>
          <p:nvPr/>
        </p:nvSpPr>
        <p:spPr>
          <a:xfrm>
            <a:off x="3662342" y="1936382"/>
            <a:ext cx="27878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Choosing an appropriate ODE model.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Identifying which variables are observed, which variables are latent.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Making a simple least-squares fit.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Identifying biologically plausible parameter regimes where the ODE should work.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Choosing solvers. E.g., scipy.odeint, pymc.ode.DifferentialEquation, etc.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Choosing physical constraints. E.g., minimum density.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592DCF-106F-8B09-9844-D0B37ADBCFC9}"/>
              </a:ext>
            </a:extLst>
          </p:cNvPr>
          <p:cNvSpPr txBox="1"/>
          <p:nvPr/>
        </p:nvSpPr>
        <p:spPr>
          <a:xfrm>
            <a:off x="6832144" y="1931779"/>
            <a:ext cx="278781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Selecting prior distributions for ODE parameters and initial conditions, informed by previous experiments, biological constraints, and other relevant considerations. E.g., Truncated Gaussian.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Defining likelihood as a function of the ODE model and observed data. E.g., product of Gaussians for each time point for each variable and replicate.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Choosing an error function. 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EBF9B3-349B-2CEB-79D3-E06217CAE799}"/>
              </a:ext>
            </a:extLst>
          </p:cNvPr>
          <p:cNvSpPr txBox="1"/>
          <p:nvPr/>
        </p:nvSpPr>
        <p:spPr>
          <a:xfrm>
            <a:off x="9969479" y="1931778"/>
            <a:ext cx="27878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Prior predictive checks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Requirements: MAP vs complete posterior.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Selecting tools/packages/programming languages.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Choosing the type of computation: E.g., ABC, MCMC, HMC, VI, etc.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Selecting samplers: E.g., NUTS for HMC, DRAM-MCMC for Metropolis samplers, etc.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Hyperparameters: burn-in period, number of chains, traces, acceptance rates, etc.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6F5537-067A-887F-510D-2089477D1BC3}"/>
              </a:ext>
            </a:extLst>
          </p:cNvPr>
          <p:cNvSpPr txBox="1"/>
          <p:nvPr/>
        </p:nvSpPr>
        <p:spPr>
          <a:xfrm>
            <a:off x="13223479" y="1938702"/>
            <a:ext cx="27878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Convergence tests: Gelman-Rubin, Geweke, IAT (and possible thinning), ESS, etc.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Posterior parameter covariances and possible reparameterization.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Posterior predictive checks.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Inter-model comparison.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3555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273</Words>
  <Application>Microsoft Macintosh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Raunak Dey</dc:creator>
  <cp:lastModifiedBy>Raunak Dey</cp:lastModifiedBy>
  <cp:revision>29</cp:revision>
  <dcterms:created xsi:type="dcterms:W3CDTF">2025-06-09T20:32:34Z</dcterms:created>
  <dcterms:modified xsi:type="dcterms:W3CDTF">2025-06-13T18:26:43Z</dcterms:modified>
</cp:coreProperties>
</file>